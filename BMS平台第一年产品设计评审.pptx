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067550" y="0"/>
            <a:ext cx="5124450" cy="6858000"/>
          </a:xfrm>
          <a:prstGeom prst="rect">
            <a:avLst/>
          </a:prstGeom>
          <a:solidFill>
            <a:srgbClr val="12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38200" y="1866900"/>
            <a:ext cx="76200" cy="1104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62050" y="1771650"/>
            <a:ext cx="5905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楼宇智控平台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419350"/>
            <a:ext cx="6096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>
                <a:solidFill>
                  <a:srgbClr val="BBD4EE"/>
                </a:solidFill>
                <a:latin typeface="Microsoft YaHei"/>
                <a:ea typeface="Microsoft YaHei"/>
                <a:cs typeface="Microsoft YaHei"/>
              </a:rPr>
              <a:t>第一年产品设计评审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876550"/>
            <a:ext cx="609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FA8C8"/>
                </a:solidFill>
                <a:latin typeface="Microsoft YaHei"/>
                <a:ea typeface="Microsoft YaHei"/>
                <a:cs typeface="Microsoft YaHei"/>
              </a:rPr>
              <a:t>P0 平台首版 · P1 分项计量 · P5 室内环境 · P7 网关切转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2050" y="3390900"/>
            <a:ext cx="914400" cy="28575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62050" y="3619500"/>
            <a:ext cx="5905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评审对象：四条产品线的功能设计、界面与交互原则（以原型为准）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评审目标：确认可进入 12 周开发排期，并形成 5 项拍板决议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与会角色：创始团队 · 技术负责人 · 交付负责人</a:t>
            </a:r>
          </a:p>
        </p:txBody>
      </p:sp>
      <p:pic>
        <p:nvPicPr>
          <p:cNvPr id="11" name="Picture 10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550" y="2857500"/>
            <a:ext cx="4381500" cy="3081055"/>
          </a:xfrm>
          <a:prstGeom prst="rect">
            <a:avLst/>
          </a:prstGeom>
          <a:ln w="76200">
            <a:solidFill>
              <a:srgbClr val="FFFFF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067550" y="6057900"/>
            <a:ext cx="438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FA8C8"/>
                </a:solidFill>
                <a:latin typeface="Microsoft YaHei"/>
                <a:ea typeface="Microsoft YaHei"/>
                <a:cs typeface="Microsoft YaHei"/>
              </a:rPr>
              <a:t>原型示例项目：九龙湾 · 鸿业工业大厦（演示数据）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评审议程与今天要拍板的事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议程 /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2552700" cy="476250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71500" y="914400"/>
            <a:ext cx="2552700" cy="47625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0100" y="1238250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评审会 · 约 3 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657350"/>
            <a:ext cx="2095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100" b="0">
                <a:solidFill>
                  <a:srgbClr val="D6E4F5"/>
                </a:solidFill>
                <a:latin typeface="Microsoft YaHei"/>
                <a:ea typeface="Microsoft YaHei"/>
                <a:cs typeface="Microsoft YaHei"/>
              </a:rPr>
              <a:t>逐页过稿，不逐页讨论细节；有异议当场记录，会后 24 小时内回复。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D6E4F5"/>
                </a:solidFill>
                <a:latin typeface="Microsoft YaHei"/>
                <a:ea typeface="Microsoft YaHei"/>
                <a:cs typeface="Microsoft YaHei"/>
              </a:rPr>
              <a:t>目标不是把 PPT 讲完，而是让 12 周排期可以在下周一启动。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" y="4629150"/>
            <a:ext cx="2095500" cy="9525"/>
          </a:xfrm>
          <a:prstGeom prst="rect">
            <a:avLst/>
          </a:prstGeom>
          <a:solidFill>
            <a:srgbClr val="2E6C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0100" y="4781550"/>
            <a:ext cx="209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本稿共 16 页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A9C6E8"/>
                </a:solidFill>
                <a:latin typeface="Microsoft YaHei"/>
                <a:ea typeface="Microsoft YaHei"/>
                <a:cs typeface="Microsoft YaHei"/>
              </a:rPr>
              <a:t>截图全部取自真实原型，非示意图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9144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29000" y="91440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150" y="904875"/>
            <a:ext cx="7753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产品全景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150" y="1104900"/>
            <a:ext cx="77533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四条产品线的定位、定价与 12 周交付节奏，确认首年范围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466850"/>
            <a:ext cx="81915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429000" y="16002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29000" y="160020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7150" y="1590675"/>
            <a:ext cx="7753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平台首版 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7150" y="1790700"/>
            <a:ext cx="77533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设备管理、时序数据、看板、告警四个底座模块的界面与七个关键决策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152650"/>
            <a:ext cx="81915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429000" y="22860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9000" y="228600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150" y="2276475"/>
            <a:ext cx="7753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P1 分项计量与能耗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150" y="2476500"/>
            <a:ext cx="77533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能耗总览、分项基线偏差、报表核对，以及量测验证（M&amp;V）的口径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838450"/>
            <a:ext cx="81915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429000" y="29718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29000" y="297180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150" y="2962275"/>
            <a:ext cx="7753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P5 室内环境监测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150" y="3162300"/>
            <a:ext cx="77533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平面热力图、区域舒适度、超标事件与 IAQ 报告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524250"/>
            <a:ext cx="81915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429000" y="36576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29000" y="365760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150" y="3648075"/>
            <a:ext cx="7753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P7 旧系统网关切转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67150" y="3848100"/>
            <a:ext cx="77533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网关台账、点表映射工作台、并行验证与切转三原则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4210050"/>
            <a:ext cx="81915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429000" y="43434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429000" y="434340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7150" y="4333875"/>
            <a:ext cx="77533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移动端与治理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7150" y="4533900"/>
            <a:ext cx="77533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小程序端两屏、信息架构与权限矩阵、验收标准与排期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5715000"/>
            <a:ext cx="8191500" cy="438150"/>
          </a:xfrm>
          <a:prstGeom prst="roundRect">
            <a:avLst>
              <a:gd name="adj" fmla="val 13043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562350" y="5715000"/>
            <a:ext cx="79248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结尾第 16 页列出 </a:t>
            </a:r>
            <a:r>
              <a:rPr sz="1150" b="1">
                <a:solidFill>
                  <a:srgbClr val="A8710F"/>
                </a:solidFill>
                <a:latin typeface="Microsoft YaHei"/>
                <a:ea typeface="Microsoft YaHei"/>
                <a:cs typeface="Microsoft YaHei"/>
              </a:rPr>
              <a:t>5 项需要当场拍板的决议</a:t>
            </a:r>
            <a:r>
              <a:rPr sz="11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，每项都附默认方案，无异议即视为通过。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产品全景：四条产品线与 12 周交付节奏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产品范围 /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952500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88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150" y="1123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条产品线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150" y="1466850"/>
            <a:ext cx="3143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一个底座，三个能独立收钱的包。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076450"/>
            <a:ext cx="5143500" cy="723900"/>
          </a:xfrm>
          <a:prstGeom prst="roundRect">
            <a:avLst>
              <a:gd name="adj" fmla="val 10526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71500" y="2076450"/>
            <a:ext cx="38100" cy="72390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3900" y="220980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190750"/>
            <a:ext cx="2381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平台首版（底座）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2419350"/>
            <a:ext cx="3238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设备管理 · 时序数据 · 看板 · 告警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098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不单独报价，随项目交付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2876550"/>
            <a:ext cx="5143500" cy="723900"/>
          </a:xfrm>
          <a:prstGeom prst="roundRect">
            <a:avLst>
              <a:gd name="adj" fmla="val 10526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2876550"/>
            <a:ext cx="38100" cy="723900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3900" y="300990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E9C97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2990850"/>
            <a:ext cx="2381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分项计量与能耗看板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219450"/>
            <a:ext cx="3238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计量点接入 · 分项拆解 · 基线偏差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0099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0E9C97"/>
                </a:solidFill>
                <a:latin typeface="Microsoft YaHei"/>
                <a:ea typeface="Microsoft YaHei"/>
                <a:cs typeface="Microsoft YaHei"/>
              </a:rPr>
              <a:t>HK$8 万 – 18 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3676650"/>
            <a:ext cx="5143500" cy="723900"/>
          </a:xfrm>
          <a:prstGeom prst="roundRect">
            <a:avLst>
              <a:gd name="adj" fmla="val 10526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1500" y="3676650"/>
            <a:ext cx="38100" cy="723900"/>
          </a:xfrm>
          <a:prstGeom prst="rect">
            <a:avLst/>
          </a:prstGeom>
          <a:solidFill>
            <a:srgbClr val="6F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3900" y="381000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6F5BD6"/>
                </a:solidFill>
                <a:latin typeface="Microsoft YaHei"/>
                <a:ea typeface="Microsoft YaHei"/>
                <a:cs typeface="Microsoft YaHei"/>
              </a:rPr>
              <a:t>P5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3790950"/>
            <a:ext cx="2381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室内环境与健康监测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4019550"/>
            <a:ext cx="3238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温湿度 · CO₂ · PM2.5 · IAQ 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8100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6F5BD6"/>
                </a:solidFill>
                <a:latin typeface="Microsoft YaHei"/>
                <a:ea typeface="Microsoft YaHei"/>
                <a:cs typeface="Microsoft YaHei"/>
              </a:rPr>
              <a:t>HK$10 万 – 22 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4476750"/>
            <a:ext cx="5143500" cy="723900"/>
          </a:xfrm>
          <a:prstGeom prst="roundRect">
            <a:avLst>
              <a:gd name="adj" fmla="val 10526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71500" y="4476750"/>
            <a:ext cx="38100" cy="723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3900" y="461010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P7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200" y="4591050"/>
            <a:ext cx="2381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旧系统网关切转改造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4819650"/>
            <a:ext cx="3238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网关台账 · 点表映射 · 并行验证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61010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HK$12 万 – 35 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933450"/>
            <a:ext cx="54102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12 周交付节奏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34125" y="1352550"/>
            <a:ext cx="19050" cy="4476750"/>
          </a:xfrm>
          <a:prstGeom prst="rect">
            <a:avLst/>
          </a:prstGeom>
          <a:solidFill>
            <a:srgbClr val="BB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248400" y="1390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A87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334125" y="1581150"/>
            <a:ext cx="19050" cy="876300"/>
          </a:xfrm>
          <a:prstGeom prst="rect">
            <a:avLst/>
          </a:prstGeom>
          <a:solidFill>
            <a:srgbClr val="BB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534150" y="1295400"/>
            <a:ext cx="5086350" cy="914400"/>
          </a:xfrm>
          <a:prstGeom prst="roundRect">
            <a:avLst>
              <a:gd name="adj" fmla="val 8333"/>
            </a:avLst>
          </a:prstGeom>
          <a:solidFill>
            <a:srgbClr val="FDF3E1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67500" y="14097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A8710F"/>
                </a:solidFill>
                <a:latin typeface="Microsoft YaHei"/>
                <a:ea typeface="Microsoft YaHei"/>
                <a:cs typeface="Microsoft YaHei"/>
              </a:rPr>
              <a:t>W1–W2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0950" y="1409700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范围确认与设计冻结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0" y="1695450"/>
            <a:ext cx="48196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产品范围、页面清单、验收标准三方签字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8400" y="24955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334125" y="2686050"/>
            <a:ext cx="19050" cy="876300"/>
          </a:xfrm>
          <a:prstGeom prst="rect">
            <a:avLst/>
          </a:prstGeom>
          <a:solidFill>
            <a:srgbClr val="BB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534150" y="2400300"/>
            <a:ext cx="5086350" cy="914400"/>
          </a:xfrm>
          <a:prstGeom prst="roundRect">
            <a:avLst>
              <a:gd name="adj" fmla="val 8333"/>
            </a:avLst>
          </a:prstGeom>
          <a:solidFill>
            <a:srgbClr val="E9F1FB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67500" y="25146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W3–W5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0950" y="2514600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平台底座 P0 开发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7500" y="2800350"/>
            <a:ext cx="48196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设备台账、时序接入、看板、告警四模块联调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8400" y="3600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334125" y="3790950"/>
            <a:ext cx="19050" cy="876300"/>
          </a:xfrm>
          <a:prstGeom prst="rect">
            <a:avLst/>
          </a:prstGeom>
          <a:solidFill>
            <a:srgbClr val="BB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6534150" y="3505200"/>
            <a:ext cx="5086350" cy="914400"/>
          </a:xfrm>
          <a:prstGeom prst="roundRect">
            <a:avLst>
              <a:gd name="adj" fmla="val 8333"/>
            </a:avLst>
          </a:prstGeom>
          <a:solidFill>
            <a:srgbClr val="E4F5F4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667500" y="36195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9C97"/>
                </a:solidFill>
                <a:latin typeface="Microsoft YaHei"/>
                <a:ea typeface="Microsoft YaHei"/>
                <a:cs typeface="Microsoft YaHei"/>
              </a:rPr>
              <a:t>W6–W9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00950" y="3619500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三条产品线并行开发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7500" y="3905250"/>
            <a:ext cx="48196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P1 计量包、P5 环境包、P7 切转工具链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8400" y="47053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F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334125" y="4895850"/>
            <a:ext cx="19050" cy="0"/>
          </a:xfrm>
          <a:prstGeom prst="rect">
            <a:avLst/>
          </a:prstGeom>
          <a:solidFill>
            <a:srgbClr val="BB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6534150" y="4610100"/>
            <a:ext cx="5086350" cy="914400"/>
          </a:xfrm>
          <a:prstGeom prst="roundRect">
            <a:avLst>
              <a:gd name="adj" fmla="val 8333"/>
            </a:avLst>
          </a:prstGeom>
          <a:solidFill>
            <a:srgbClr val="EEEB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667500" y="47244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6F5BD6"/>
                </a:solidFill>
                <a:latin typeface="Microsoft YaHei"/>
                <a:ea typeface="Microsoft YaHei"/>
                <a:cs typeface="Microsoft YaHei"/>
              </a:rPr>
              <a:t>W10–W12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00950" y="4724400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示范项目试点与验收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67500" y="5010150"/>
            <a:ext cx="48196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真实楼宇上线，量测验证基线建立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0300" y="5886450"/>
            <a:ext cx="5410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判断：</a:t>
            </a:r>
            <a:r>
              <a:rPr sz="11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首年重点不是功能多，而是 P1／P5／P7 三个包能被客户签单。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P0 平台首版 · 工作台总览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平台底座 / P0</a:t>
            </a:r>
          </a:p>
        </p:txBody>
      </p:sp>
      <p:pic>
        <p:nvPicPr>
          <p:cNvPr id="5" name="Picture 4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2500"/>
            <a:ext cx="6915150" cy="4862708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1500" y="5891408"/>
            <a:ext cx="69151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S2 工作台总览 — 演示数据：九龙湾 · 鸿业工业大厦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0" y="933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首屏要回答五个问题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0500" y="1323975"/>
            <a:ext cx="28575" cy="142875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24800" y="1285875"/>
            <a:ext cx="3695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楼现在是否正常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0" y="1485900"/>
            <a:ext cx="369570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设备在线率、通讯异常数与实时告警数放在最上方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0500" y="1833245"/>
            <a:ext cx="28575" cy="142875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24800" y="1795145"/>
            <a:ext cx="3695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今天的异常处理到哪一步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0" y="1995170"/>
            <a:ext cx="369570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按责任人归口，未确认的告警排在最前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0500" y="2342515"/>
            <a:ext cx="28575" cy="142875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24800" y="2304415"/>
            <a:ext cx="3695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这周能耗是否偏离基线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0" y="2504440"/>
            <a:ext cx="369570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本周累计能耗与基线预测的偏差百分比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0500" y="2851785"/>
            <a:ext cx="28575" cy="142875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24800" y="2813685"/>
            <a:ext cx="3695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有没有设备在带病运行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800" y="3013710"/>
            <a:ext cx="369570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通讯不稳定清单，提示需现场核查的点位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0500" y="3361055"/>
            <a:ext cx="28575" cy="142875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24800" y="3322955"/>
            <a:ext cx="3695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本周要交什么给客户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800" y="3522980"/>
            <a:ext cx="369570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待交付项目、M&amp;V 报告与巡检工单进度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0500" y="5486400"/>
            <a:ext cx="3810000" cy="723900"/>
          </a:xfrm>
          <a:prstGeom prst="roundRect">
            <a:avLst>
              <a:gd name="adj" fmla="val 921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810500" y="5486400"/>
            <a:ext cx="28575" cy="723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43850" y="5486400"/>
            <a:ext cx="35623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A8710F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总览页的目标不是展示数据，而是让值班人员 10 秒内判断这幢楼是否正常。所有模块的取舍都以这条为准。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2750" y="6343650"/>
            <a:ext cx="533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本页起所有截图为原型真实界面（演示数据）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P0 · 设备台账与设备详情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平台底座 / 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914400"/>
            <a:ext cx="5391150" cy="3390900"/>
          </a:xfrm>
          <a:prstGeom prst="roundRect">
            <a:avLst>
              <a:gd name="adj" fmla="val 2247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08" y="1047750"/>
            <a:ext cx="4835334" cy="312420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71500" y="4381500"/>
            <a:ext cx="53911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S3 设备管理 — 台账、筛选与批量操作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9350" y="914400"/>
            <a:ext cx="5391150" cy="3390900"/>
          </a:xfrm>
          <a:prstGeom prst="roundRect">
            <a:avLst>
              <a:gd name="adj" fmla="val 2247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718" y="1047750"/>
            <a:ext cx="4740414" cy="312420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29350" y="4381500"/>
            <a:ext cx="53911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S4 设备详情 — 实时值、点位与历史趋势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686300"/>
            <a:ext cx="28575" cy="142875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4648200"/>
            <a:ext cx="2762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设备状态必须分三档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46291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在线 / 通讯不稳定 / 离线。只分两态会让亚健康设备一直显示在线，直到彻底掉线才被发现，而机电故障几乎都有征兆。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01015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5162550"/>
            <a:ext cx="28575" cy="142875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5124450"/>
            <a:ext cx="2762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台账以「点位」而非「设备」为主键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51054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同一台冷机的温度、压力、运行状态来自不同点位，台账先聚点再聚机，后期新增监测点不会推翻结构。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486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71500" y="5638800"/>
            <a:ext cx="28575" cy="142875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5600700"/>
            <a:ext cx="27622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详情页回答「为什么异常」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0" y="55816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实时值旁边直接给量程与正常区间，不让人再去翻说明书；历史趋势默认对齐同类设备做横向比较。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P0 · 点表导入与时序数据探索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平台底座 / 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914400"/>
            <a:ext cx="5391150" cy="3352800"/>
          </a:xfrm>
          <a:prstGeom prst="roundRect">
            <a:avLst>
              <a:gd name="adj" fmla="val 2272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208290"/>
            <a:ext cx="5124450" cy="2765019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71500" y="4343400"/>
            <a:ext cx="53911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S5 点表模板与批量导入 — 校验前置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9350" y="914400"/>
            <a:ext cx="5391150" cy="3352800"/>
          </a:xfrm>
          <a:prstGeom prst="roundRect">
            <a:avLst>
              <a:gd name="adj" fmla="val 2272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293" y="1047750"/>
            <a:ext cx="4939264" cy="308610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29350" y="4343400"/>
            <a:ext cx="53911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S6 时序数据探索 — 多点多区间对比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667250"/>
            <a:ext cx="11049000" cy="1543050"/>
          </a:xfrm>
          <a:prstGeom prst="roundRect">
            <a:avLst>
              <a:gd name="adj" fmla="val 4938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71500" y="4667250"/>
            <a:ext cx="38100" cy="154305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1050" y="4857750"/>
            <a:ext cx="3390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导入前必须拦下三类错误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5334000"/>
            <a:ext cx="3390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地址冲突、量程不一致、单位缺失。数据入库后异常不会报错，只会表现为「能耗算错了」，事后排查成本约为入口拦截的十倍。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0550" y="4857750"/>
            <a:ext cx="3390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时序探索不做成图表堆砌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0550" y="5334000"/>
            <a:ext cx="3390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默认回答「这个参数最近正常吗」，因此预置同环比、同类设备对比与量程越界标注三件事，不要求用户自己配维度。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0050" y="4857750"/>
            <a:ext cx="3390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0E9C97"/>
                </a:solidFill>
                <a:latin typeface="Microsoft YaHei"/>
                <a:ea typeface="Microsoft YaHei"/>
                <a:cs typeface="Microsoft YaHei"/>
              </a:rPr>
              <a:t>原始数据永不覆盖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0050" y="5334000"/>
            <a:ext cx="3390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清洗与修正都以新版本写入，保留可追溯的修订链，为后续量测验证提供可审计的数据基础。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P0 · 看板编辑器与告警中心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平台底座 / P0</a:t>
            </a:r>
          </a:p>
        </p:txBody>
      </p:sp>
      <p:pic>
        <p:nvPicPr>
          <p:cNvPr id="5" name="Picture 4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14400"/>
            <a:ext cx="5753100" cy="5188298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1500" y="6197948"/>
            <a:ext cx="575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S8 告警中心 — 责任人、时限与升级状态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10350" y="914400"/>
            <a:ext cx="5010150" cy="2444011"/>
          </a:xfrm>
          <a:prstGeom prst="roundRect">
            <a:avLst>
              <a:gd name="adj" fmla="val 2338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952500"/>
            <a:ext cx="5010150" cy="2367811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10350" y="3396511"/>
            <a:ext cx="5010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S7 看板编辑器 — 拖拽组件与预览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701311"/>
            <a:ext cx="50101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告警只考核处理率，不考核数量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0350" y="4015636"/>
            <a:ext cx="28575" cy="1333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24650" y="3977536"/>
            <a:ext cx="48958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每条告警绑定责任人与时限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177561"/>
            <a:ext cx="4895850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30 分钟未确认自动升级，60 分钟电话外呼；没有归属的告警等于没有告警。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0350" y="4729376"/>
            <a:ext cx="28575" cy="1333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24650" y="4691276"/>
            <a:ext cx="48958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规则配置提供试算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4891301"/>
            <a:ext cx="489585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上线前用历史数据回放验证误报率，避免规则一上线就淹没值班人员。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10350" y="5238646"/>
            <a:ext cx="28575" cy="1333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24650" y="5200546"/>
            <a:ext cx="48958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看板按角色给默认视图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5400571"/>
            <a:ext cx="4895850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值班、工程、管理三类角色各自一份默认看板，编辑能力开放但默认值必须可用。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P0 七个关键设计决策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平台底座 / P0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76300"/>
            <a:ext cx="142875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84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1295400"/>
            <a:ext cx="4000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条决策贯穿全部界面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这七条不是界面细节，而是后续所有功能开发的约束条件。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057400"/>
            <a:ext cx="5334000" cy="723900"/>
          </a:xfrm>
          <a:prstGeom prst="roundRect">
            <a:avLst>
              <a:gd name="adj" fmla="val 921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71500" y="2057400"/>
            <a:ext cx="28575" cy="723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3900" y="2171700"/>
            <a:ext cx="5029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01  设备状态分三档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400300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在线 / 通讯不稳定 / 离线。亚健康是排查窗口期，两态设计会漏掉早期征兆。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2895600"/>
            <a:ext cx="5334000" cy="723900"/>
          </a:xfrm>
          <a:prstGeom prst="roundRect">
            <a:avLst>
              <a:gd name="adj" fmla="val 921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71500" y="2895600"/>
            <a:ext cx="28575" cy="72390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3900" y="3009900"/>
            <a:ext cx="5029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02  点表校验前置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238500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地址冲突、量程不一致、单位缺失三类错误禁止入库，入口拦截优于事后排查。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3733800"/>
            <a:ext cx="5334000" cy="723900"/>
          </a:xfrm>
          <a:prstGeom prst="roundRect">
            <a:avLst>
              <a:gd name="adj" fmla="val 921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71500" y="3733800"/>
            <a:ext cx="28575" cy="72390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3900" y="3848100"/>
            <a:ext cx="5029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03  告警绑定责任人与时限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4076700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30 分钟未确认升级、60 分钟电话外呼，指标只看处理率与响应时长。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4572000"/>
            <a:ext cx="5334000" cy="723900"/>
          </a:xfrm>
          <a:prstGeom prst="roundRect">
            <a:avLst>
              <a:gd name="adj" fmla="val 921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71500" y="4572000"/>
            <a:ext cx="28575" cy="723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3900" y="4686300"/>
            <a:ext cx="5029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04  写点位默认只读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4914900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切转期间旧系统保留控制权，平台只读不回写，杜绝新旧双头控制。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500" y="2057400"/>
            <a:ext cx="5334000" cy="723900"/>
          </a:xfrm>
          <a:prstGeom prst="roundRect">
            <a:avLst>
              <a:gd name="adj" fmla="val 921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86500" y="2057400"/>
            <a:ext cx="28575" cy="72390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38900" y="2171700"/>
            <a:ext cx="5029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05  换算关系必须显式化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900" y="2400300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kW/RT、英制、0–1 归一化量程都要填换算系数并实时预览结果。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95600"/>
            <a:ext cx="5334000" cy="723900"/>
          </a:xfrm>
          <a:prstGeom prst="roundRect">
            <a:avLst>
              <a:gd name="adj" fmla="val 921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286500" y="2895600"/>
            <a:ext cx="28575" cy="72390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38900" y="3009900"/>
            <a:ext cx="5029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06  移动端只做四件事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8900" y="3238500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告警确认、现场巡检、拍照留证、离线暂存；其余功能一律不上手机。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3733800"/>
            <a:ext cx="5334000" cy="723900"/>
          </a:xfrm>
          <a:prstGeom prst="roundRect">
            <a:avLst>
              <a:gd name="adj" fmla="val 921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86500" y="3733800"/>
            <a:ext cx="28575" cy="723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38900" y="3848100"/>
            <a:ext cx="5029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07  写权限分级授权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900" y="4076700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环境联动下发需一次性授权 + 每次二次确认 + 全量留痕，界定责任边界。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500" y="4572000"/>
            <a:ext cx="5334000" cy="723900"/>
          </a:xfrm>
          <a:prstGeom prst="roundRect">
            <a:avLst>
              <a:gd name="adj" fmla="val 9210"/>
            </a:avLst>
          </a:prstGeom>
          <a:solidFill>
            <a:srgbClr val="0B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286500" y="4572000"/>
            <a:ext cx="28575" cy="723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38900" y="4686300"/>
            <a:ext cx="5029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落地口径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8900" y="4914900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以上七条已写入页面清单与字段字典，作为 12 周开发的验收基线。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P1 · 能耗总览与分项基线偏差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分项计量 / P1</a:t>
            </a:r>
          </a:p>
        </p:txBody>
      </p:sp>
      <p:pic>
        <p:nvPicPr>
          <p:cNvPr id="5" name="Picture 4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14400"/>
            <a:ext cx="5600700" cy="3524946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1500" y="4515546"/>
            <a:ext cx="5600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S10 能耗总览 — 分项拆解、同环比与单位面积强度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850" y="89535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分项拆解的口径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850" y="1228725"/>
            <a:ext cx="28575" cy="133350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4150" y="1190625"/>
            <a:ext cx="50863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按用途而非按电表拆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1390650"/>
            <a:ext cx="5086350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冷机房、风机盘管、照明、插座、电梯各自归口，客户关心的是谁在耗电，不是电表接在哪。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9850" y="1923415"/>
            <a:ext cx="28575" cy="133350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34150" y="1885315"/>
            <a:ext cx="508635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强度指标必须同口径可比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2085340"/>
            <a:ext cx="508635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每平方米或每冷吨的能耗强度，否则不同面积楼宇之间的数字无法比较。</a:t>
            </a:r>
          </a:p>
        </p:txBody>
      </p:sp>
      <p:pic>
        <p:nvPicPr>
          <p:cNvPr id="14" name="Picture 13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2762250"/>
            <a:ext cx="3522048" cy="320040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419850" y="6000750"/>
            <a:ext cx="352204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S11 分项分析与基线偏差 — R² 0.92 / CVRMSE 6.8%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P1 · 报表核对与量测验证口径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分项计量 / P1</a:t>
            </a:r>
          </a:p>
        </p:txBody>
      </p:sp>
      <p:pic>
        <p:nvPicPr>
          <p:cNvPr id="5" name="Picture 4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914400"/>
            <a:ext cx="5715000" cy="3318527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238500" y="4309127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S12 报表与电费单核对 — 数据可信度的最后一道关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4575827"/>
            <a:ext cx="11049000" cy="1634473"/>
          </a:xfrm>
          <a:prstGeom prst="roundRect">
            <a:avLst>
              <a:gd name="adj" fmla="val 4662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71500" y="4575827"/>
            <a:ext cx="38100" cy="1634473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4728227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平台算的数必须能和电费单对上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185427"/>
            <a:ext cx="3352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每月用实际电费单反向核对平台累计量，偏差超过 2% 先查计量链路，再谈节能。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0" y="4728227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1">
                <a:solidFill>
                  <a:srgbClr val="0E5AA7"/>
                </a:solidFill>
                <a:latin typeface="Microsoft YaHei"/>
                <a:ea typeface="Microsoft YaHei"/>
                <a:cs typeface="Microsoft YaHei"/>
              </a:rPr>
              <a:t>M&amp;V 是与传统承建商的根本差异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5185427"/>
            <a:ext cx="3352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采用 IPMVP Option B/C 与 ASHRAE Guideline 14 口径：基线 R² 0.92、CVRMSE 6.8%，8 周实测节能 12.4%（95% 置信区间 10.1%–14.7%）。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2900" y="4728227"/>
            <a:ext cx="3352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1">
                <a:solidFill>
                  <a:srgbClr val="0E9C97"/>
                </a:solidFill>
                <a:latin typeface="Microsoft YaHei"/>
                <a:ea typeface="Microsoft YaHei"/>
                <a:cs typeface="Microsoft YaHei"/>
              </a:rPr>
              <a:t>报告要能直接交给业主和审计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0" y="5185427"/>
            <a:ext cx="3352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节能量的计算过程、修正条件与不确定度一并输出，不做只给结论的节能报告。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P5 · 室内环境监测与 IAQ 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室内环境 / P5</a:t>
            </a:r>
          </a:p>
        </p:txBody>
      </p:sp>
      <p:pic>
        <p:nvPicPr>
          <p:cNvPr id="5" name="Picture 4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14400"/>
            <a:ext cx="5396178" cy="501015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1500" y="6000750"/>
            <a:ext cx="539617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S14 区域详情与舒适度 — 分区指标与超标时长</a:t>
            </a:r>
          </a:p>
        </p:txBody>
      </p:sp>
      <p:pic>
        <p:nvPicPr>
          <p:cNvPr id="7" name="Picture 6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28" y="914400"/>
            <a:ext cx="4838700" cy="2905429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5328" y="3857929"/>
            <a:ext cx="483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S13 环境总览与平面热力图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5328" y="4105579"/>
            <a:ext cx="54051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环境数据要能指向一个房间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5328" y="4400854"/>
            <a:ext cx="28575" cy="133350"/>
          </a:xfrm>
          <a:prstGeom prst="rect">
            <a:avLst/>
          </a:prstGeom>
          <a:solidFill>
            <a:srgbClr val="6F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29628" y="4362754"/>
            <a:ext cx="5290872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热力图挂在真实平面图上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9628" y="4562779"/>
            <a:ext cx="5290872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只给楼层平面加色块，不做抽象仪表盘，物管看完能直接走到出问题的位置。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5328" y="4852974"/>
            <a:ext cx="28575" cy="133350"/>
          </a:xfrm>
          <a:prstGeom prst="rect">
            <a:avLst/>
          </a:prstGeom>
          <a:solidFill>
            <a:srgbClr val="6F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29628" y="4814874"/>
            <a:ext cx="5290872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舒适度按占用时段计算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9628" y="5014899"/>
            <a:ext cx="5290872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非工作时段超标不计入舒适度，避免把夜间空置时段算成不舒适。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5328" y="5305094"/>
            <a:ext cx="28575" cy="133350"/>
          </a:xfrm>
          <a:prstGeom prst="rect">
            <a:avLst/>
          </a:prstGeom>
          <a:solidFill>
            <a:srgbClr val="6F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29628" y="5266994"/>
            <a:ext cx="5290872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报告口径对接本地指引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9628" y="5467019"/>
            <a:ext cx="5290872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IAQ 报告按中国香港室内空气质素指引的指标与限值输出，可直接提交业主与校方。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P7 · 网关台账与点表映射工作台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网关切转 / P7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914400"/>
            <a:ext cx="5391150" cy="3543300"/>
          </a:xfrm>
          <a:prstGeom prst="roundRect">
            <a:avLst>
              <a:gd name="adj" fmla="val 215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71" y="1047750"/>
            <a:ext cx="4318408" cy="327660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71500" y="4533900"/>
            <a:ext cx="53911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S16 网关台账与切转进度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9350" y="914400"/>
            <a:ext cx="5391150" cy="3543300"/>
          </a:xfrm>
          <a:prstGeom prst="roundRect">
            <a:avLst>
              <a:gd name="adj" fmla="val 215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004" y="1047750"/>
            <a:ext cx="4599842" cy="327660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29350" y="4533900"/>
            <a:ext cx="53911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S17 点表映射工作台 — 旧点位对平台点位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895850"/>
            <a:ext cx="28575" cy="142875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485775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映射工作台决定 P7 的交付效率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4838700"/>
            <a:ext cx="7981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旧点位、平台点位、换算系数、单位四列并排，映射关系可视化配置，不再靠工程师手写对照表。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2197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5372100"/>
            <a:ext cx="28575" cy="142875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533400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单位与量程换算是最大隐形陷阱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5314950"/>
            <a:ext cx="7981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旧系统用 kW/RT、英制、0–1 归一化量程极普遍；工作台强制填写换算系数并实时预览换算结果。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69595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71500" y="5848350"/>
            <a:ext cx="28575" cy="142875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581025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切转进度按网关粒度跟踪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8550" y="5791200"/>
            <a:ext cx="7981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每台网关的接入点位、已映射、已验证数量在同一张表内，进度可对外汇报，不依赖工程师口头说明。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P7 · 并行验证与切转三原则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网关切转 / P7</a:t>
            </a:r>
          </a:p>
        </p:txBody>
      </p:sp>
      <p:pic>
        <p:nvPicPr>
          <p:cNvPr id="5" name="Picture 4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14400"/>
            <a:ext cx="5429250" cy="4730967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1500" y="5721567"/>
            <a:ext cx="542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S18 并行验证与投运确认 — 新旧系统偏差比对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895350"/>
            <a:ext cx="53149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切转期只做一件危险的事：写点位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5550" y="1238250"/>
            <a:ext cx="5314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这三条原则决定 P7 能不能从个案变成可复制的交付物。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5550" y="1714500"/>
            <a:ext cx="5314950" cy="1104900"/>
          </a:xfrm>
          <a:prstGeom prst="roundRect">
            <a:avLst>
              <a:gd name="adj" fmla="val 6896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305550" y="1714500"/>
            <a:ext cx="28575" cy="1104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57950" y="1847850"/>
            <a:ext cx="247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1847850"/>
            <a:ext cx="468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只读切入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950" y="2152650"/>
            <a:ext cx="5010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切转期间旧系统继续负责控制，平台只采不控。任何写回都需单独审批，从机制上杜绝新旧双头控制。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5550" y="2952750"/>
            <a:ext cx="5314950" cy="1104900"/>
          </a:xfrm>
          <a:prstGeom prst="roundRect">
            <a:avLst>
              <a:gd name="adj" fmla="val 6896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05550" y="2952750"/>
            <a:ext cx="28575" cy="1104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57950" y="3086100"/>
            <a:ext cx="247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086100"/>
            <a:ext cx="468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双轨并行验证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950" y="3390900"/>
            <a:ext cx="5010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新旧数据并行比对不少于 14 天，关键点位偏差小于 2% 才允许投运，偏差项逐条闭环。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5550" y="4191000"/>
            <a:ext cx="5314950" cy="1104900"/>
          </a:xfrm>
          <a:prstGeom prst="roundRect">
            <a:avLst>
              <a:gd name="adj" fmla="val 6896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305550" y="4191000"/>
            <a:ext cx="28575" cy="110490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57950" y="4324350"/>
            <a:ext cx="247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0" y="4324350"/>
            <a:ext cx="468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回滚预案前置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4629150"/>
            <a:ext cx="50101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保留旧系统完整接线与点表快照，任意时点可单点回退；回滚步骤必须在投运前演练一次。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移动端 · 告警处理与现场巡检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移动端 / MOBILE</a:t>
            </a:r>
          </a:p>
        </p:txBody>
      </p:sp>
      <p:pic>
        <p:nvPicPr>
          <p:cNvPr id="5" name="Picture 4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914400"/>
            <a:ext cx="4000500" cy="236220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0" y="3314700"/>
            <a:ext cx="400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S19 告警处理 — 确认、指派与留痕</a:t>
            </a:r>
          </a:p>
        </p:txBody>
      </p:sp>
      <p:pic>
        <p:nvPicPr>
          <p:cNvPr id="7" name="Picture 6" descr="s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3581400"/>
            <a:ext cx="4000500" cy="236220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620000" y="5981700"/>
            <a:ext cx="400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S20 现场巡检 — 打卡、拍照与离线暂存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89535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只做四件事，且必须免安装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23825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客户方的校工与物管不会为了一幢楼去下载一个 App。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752600"/>
            <a:ext cx="28575" cy="142875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1714500"/>
            <a:ext cx="6553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形态选择：微信小程序，不做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4050"/>
            <a:ext cx="655320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免安装是使用率的决定因素；在手机浏览器里被拒绝一次，这个功能就永久作废。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99970"/>
            <a:ext cx="28575" cy="142875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2261870"/>
            <a:ext cx="6553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列在手机上的功能只有四件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71420"/>
            <a:ext cx="655320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告警确认与指派、现场巡检打卡、故障拍照留证、弱网环境下的离线暂存与补传。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847340"/>
            <a:ext cx="28575" cy="142875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2809240"/>
            <a:ext cx="6553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写的权限比读的权限贵得多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018790"/>
            <a:ext cx="655320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手机端默认只读；涉及下发控制的动作必须走二次确认，并记录操作人与时间。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3394710"/>
            <a:ext cx="28575" cy="142875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3356610"/>
            <a:ext cx="65532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端上不做分析，只做闭环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66160"/>
            <a:ext cx="6553200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图表、报表、诊断全部留在桌面端，手机端的成功标准是「这条告警被处理掉了」。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19100"/>
            <a:ext cx="47625" cy="285750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2950" y="361950"/>
            <a:ext cx="74295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信息架构、权限矩阵与验收标准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191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治理 / GOVERNANCE</a:t>
            </a:r>
          </a:p>
        </p:txBody>
      </p:sp>
      <p:pic>
        <p:nvPicPr>
          <p:cNvPr id="5" name="Picture 4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14400"/>
            <a:ext cx="4500081" cy="4876800"/>
          </a:xfrm>
          <a:prstGeom prst="rect">
            <a:avLst/>
          </a:prstGeom>
          <a:ln w="12700">
            <a:solidFill>
              <a:srgbClr val="E3E9F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1500" y="5848350"/>
            <a:ext cx="4500081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S21 信息架构、四角色权限矩阵与页面清单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6381" y="895350"/>
            <a:ext cx="6244119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权限设计的唯一原则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381" y="1181100"/>
            <a:ext cx="624411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读数据和控制设备是完全不同性质的风险。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76381" y="1657350"/>
            <a:ext cx="28575" cy="142875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90681" y="1619250"/>
            <a:ext cx="6129819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四角色对应四类真实使用者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90681" y="1828800"/>
            <a:ext cx="6129819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管理者（全局只读）、工程师（配置与调试）、值班员（告警处理）、客户方（仅本楼数据）。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76381" y="2223770"/>
            <a:ext cx="28575" cy="142875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90681" y="2185670"/>
            <a:ext cx="6129819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写权限单独授权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0681" y="2395220"/>
            <a:ext cx="6129819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环境联动下发需客户一次性书面授权 + 每次操作二次确认 + 全量操作留痕，既保护客户也界定本公司责任边界。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76381" y="2994660"/>
            <a:ext cx="28575" cy="142875"/>
          </a:xfrm>
          <a:prstGeom prst="rect">
            <a:avLst/>
          </a:prstGeom>
          <a:solidFill>
            <a:srgbClr val="0E5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90681" y="2956560"/>
            <a:ext cx="6129819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F1A2B"/>
                </a:solidFill>
                <a:latin typeface="Microsoft YaHei"/>
                <a:ea typeface="Microsoft YaHei"/>
                <a:cs typeface="Microsoft YaHei"/>
              </a:rPr>
              <a:t>验收标准写进合同附件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0681" y="3166110"/>
            <a:ext cx="6129819" cy="20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以页面清单与字段定义为验收依据：功能按页面签收，指标按节能率与告警处理率签收。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76381" y="5619750"/>
            <a:ext cx="6244119" cy="590550"/>
          </a:xfrm>
          <a:prstGeom prst="roundRect">
            <a:avLst>
              <a:gd name="adj" fmla="val 11290"/>
            </a:avLst>
          </a:prstGeom>
          <a:solidFill>
            <a:srgbClr val="F6F8FC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376381" y="5619750"/>
            <a:ext cx="28575" cy="590550"/>
          </a:xfrm>
          <a:prstGeom prst="rect">
            <a:avLst/>
          </a:prstGeom>
          <a:solidFill>
            <a:srgbClr val="0E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509731" y="5619750"/>
            <a:ext cx="599646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1">
                <a:solidFill>
                  <a:srgbClr val="0E9C97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48566C"/>
                </a:solidFill>
                <a:latin typeface="Microsoft YaHei"/>
                <a:ea typeface="Microsoft YaHei"/>
                <a:cs typeface="Microsoft YaHei"/>
              </a:rPr>
              <a:t>评审通过后 3 个工作日内冻结页面清单与字段字典，作为 12 周开发的基线。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6248400"/>
            <a:ext cx="11049000" cy="9525"/>
          </a:xfrm>
          <a:prstGeom prst="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1500" y="63436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楼宇智控平台 · 第一年产品设计评审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6500" y="63436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评审决议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914400"/>
            <a:ext cx="9525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需要今天拍板的 5 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66850"/>
            <a:ext cx="952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FA8C8"/>
                </a:solidFill>
                <a:latin typeface="Microsoft YaHei"/>
                <a:ea typeface="Microsoft YaHei"/>
                <a:cs typeface="Microsoft YaHei"/>
              </a:rPr>
              <a:t>每项都给出默认方案：无异议即视为按默认方案通过。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44100" y="381000"/>
            <a:ext cx="1676400" cy="1428750"/>
          </a:xfrm>
          <a:prstGeom prst="roundRect">
            <a:avLst>
              <a:gd name="adj" fmla="val 6666"/>
            </a:avLst>
          </a:prstGeom>
          <a:solidFill>
            <a:srgbClr val="12305A"/>
          </a:solidFill>
          <a:ln w="12700">
            <a:solidFill>
              <a:srgbClr val="1E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44100" y="552450"/>
            <a:ext cx="16764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62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4100" y="1333500"/>
            <a:ext cx="16764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项待决议事项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981200"/>
            <a:ext cx="11049000" cy="704850"/>
          </a:xfrm>
          <a:prstGeom prst="roundRect">
            <a:avLst>
              <a:gd name="adj" fmla="val 10810"/>
            </a:avLst>
          </a:prstGeom>
          <a:solidFill>
            <a:srgbClr val="12233A"/>
          </a:solidFill>
          <a:ln w="12700">
            <a:solidFill>
              <a:srgbClr val="1E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71500" y="1981200"/>
            <a:ext cx="28575" cy="70485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2000" y="20764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955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第一年产品范围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62200"/>
            <a:ext cx="10248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确认 P0 平台首版 + P1／P5／P7 三条产品线，按本稿 12 周排期执行。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2762250"/>
            <a:ext cx="11049000" cy="704850"/>
          </a:xfrm>
          <a:prstGeom prst="roundRect">
            <a:avLst>
              <a:gd name="adj" fmla="val 10810"/>
            </a:avLst>
          </a:prstGeom>
          <a:solidFill>
            <a:srgbClr val="12233A"/>
          </a:solidFill>
          <a:ln w="12700">
            <a:solidFill>
              <a:srgbClr val="1E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71500" y="2762250"/>
            <a:ext cx="28575" cy="70485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2000" y="28575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765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平台技术栈与数据层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43250"/>
            <a:ext cx="10248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确认时序数据存储方案与边缘网关协议栈，允许在 W3 前完成一次选型复核。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3543300"/>
            <a:ext cx="11049000" cy="704850"/>
          </a:xfrm>
          <a:prstGeom prst="roundRect">
            <a:avLst>
              <a:gd name="adj" fmla="val 10810"/>
            </a:avLst>
          </a:prstGeom>
          <a:solidFill>
            <a:srgbClr val="12233A"/>
          </a:solidFill>
          <a:ln w="12700">
            <a:solidFill>
              <a:srgbClr val="1E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1500" y="3543300"/>
            <a:ext cx="28575" cy="70485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2000" y="36385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6576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硬件代理与合作方式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924300"/>
            <a:ext cx="10248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确认每类关键硬件保持两个可替代供应商，W4 前签署至少一家框架协议。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4324350"/>
            <a:ext cx="11049000" cy="704850"/>
          </a:xfrm>
          <a:prstGeom prst="roundRect">
            <a:avLst>
              <a:gd name="adj" fmla="val 10810"/>
            </a:avLst>
          </a:prstGeom>
          <a:solidFill>
            <a:srgbClr val="12233A"/>
          </a:solidFill>
          <a:ln w="12700">
            <a:solidFill>
              <a:srgbClr val="1E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71500" y="4324350"/>
            <a:ext cx="28575" cy="70485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62000" y="44196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4386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移动端形态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705350"/>
            <a:ext cx="10248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确认采用微信小程序、不做独立 App，手机端只承载四类闭环操作。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" y="5105400"/>
            <a:ext cx="11049000" cy="704850"/>
          </a:xfrm>
          <a:prstGeom prst="roundRect">
            <a:avLst>
              <a:gd name="adj" fmla="val 10810"/>
            </a:avLst>
          </a:prstGeom>
          <a:solidFill>
            <a:srgbClr val="12233A"/>
          </a:solidFill>
          <a:ln w="12700">
            <a:solidFill>
              <a:srgbClr val="1E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71500" y="5105400"/>
            <a:ext cx="28575" cy="704850"/>
          </a:xfrm>
          <a:prstGeom prst="rect">
            <a:avLst/>
          </a:prstGeom>
          <a:solidFill>
            <a:srgbClr val="D89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62000" y="52006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D8951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2197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首个示范项目与客户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486400"/>
            <a:ext cx="10248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B9C6D9"/>
                </a:solidFill>
                <a:latin typeface="Microsoft YaHei"/>
                <a:ea typeface="Microsoft YaHei"/>
                <a:cs typeface="Microsoft YaHei"/>
              </a:rPr>
              <a:t>确认优先从三家物业管理公司渠道中选定示范楼宇，W6 前完成合同签署。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596265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FA8C8"/>
                </a:solidFill>
                <a:latin typeface="Microsoft YaHei"/>
                <a:ea typeface="Microsoft YaHei"/>
                <a:cs typeface="Microsoft YaHei"/>
              </a:rPr>
              <a:t>决议形成后 3 个工作日内冻结页面清单与字段字典，作为开发基线。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0" y="59626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546883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